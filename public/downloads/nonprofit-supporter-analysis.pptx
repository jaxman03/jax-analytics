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bac0c88464dec" /><Relationship Type="http://schemas.openxmlformats.org/officeDocument/2006/relationships/extended-properties" Target="/docProps/app.xml" Id="R86fba7a239ce4f16" /><Relationship Type="http://schemas.openxmlformats.org/officeDocument/2006/relationships/officeDocument" Target="/ppt/presentation.xml" Id="R4a262e2068e4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feaf3cce048d0"/>
  </p:sldMasterIdLst>
  <p:notesMasterIdLst>
    <p:notesMasterId xmlns:r="http://schemas.openxmlformats.org/officeDocument/2006/relationships" r:id="Re119a9b102964b73"/>
  </p:notesMasterIdLst>
  <p:sldIdLst>
    <p:sldId xmlns:r="http://schemas.openxmlformats.org/officeDocument/2006/relationships" id="256" r:id="Rf6fe45d017784ae4"/>
    <p:sldId xmlns:r="http://schemas.openxmlformats.org/officeDocument/2006/relationships" id="257" r:id="R6bb7143db5be42b3"/>
    <p:sldId xmlns:r="http://schemas.openxmlformats.org/officeDocument/2006/relationships" id="258" r:id="R34c364658fcb41bb"/>
    <p:sldId xmlns:r="http://schemas.openxmlformats.org/officeDocument/2006/relationships" id="259" r:id="R514b7dddba394b45"/>
    <p:sldId xmlns:r="http://schemas.openxmlformats.org/officeDocument/2006/relationships" id="260" r:id="R6ecbf6898a134be4"/>
    <p:sldId xmlns:r="http://schemas.openxmlformats.org/officeDocument/2006/relationships" id="261" r:id="Rd5c68ccb3ba349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2ff415a1e4428" /><Relationship Type="http://schemas.openxmlformats.org/officeDocument/2006/relationships/slideMaster" Target="/ppt/slideMasters/slideMaster1.xml" Id="R569feaf3cce048d0" /><Relationship Type="http://schemas.openxmlformats.org/officeDocument/2006/relationships/notesMaster" Target="/ppt/notesMasters/notesMaster1.xml" Id="Re119a9b102964b73" /><Relationship Type="http://schemas.openxmlformats.org/officeDocument/2006/relationships/presProps" Target="/ppt/presProps.xml" Id="Rd1a48b7806a548a5" /><Relationship Type="http://schemas.openxmlformats.org/officeDocument/2006/relationships/tableStyles" Target="/ppt/tableStyles.xml" Id="R6eea3e8921b24ec3" /><Relationship Type="http://schemas.openxmlformats.org/officeDocument/2006/relationships/slide" Target="/ppt/slides/slide1.xml" Id="Rf6fe45d017784ae4" /><Relationship Type="http://schemas.openxmlformats.org/officeDocument/2006/relationships/slide" Target="/ppt/slides/slide2.xml" Id="R6bb7143db5be42b3" /><Relationship Type="http://schemas.openxmlformats.org/officeDocument/2006/relationships/slide" Target="/ppt/slides/slide3.xml" Id="R34c364658fcb41bb" /><Relationship Type="http://schemas.openxmlformats.org/officeDocument/2006/relationships/slide" Target="/ppt/slides/slide4.xml" Id="R514b7dddba394b45" /><Relationship Type="http://schemas.openxmlformats.org/officeDocument/2006/relationships/slide" Target="/ppt/slides/slide5.xml" Id="R6ecbf6898a134be4" /><Relationship Type="http://schemas.openxmlformats.org/officeDocument/2006/relationships/slide" Target="/ppt/slides/slide6.xml" Id="Rd5c68ccb3ba3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c2d9eb0818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553c8f8804859" /><Relationship Type="http://schemas.openxmlformats.org/officeDocument/2006/relationships/notesMaster" Target="/ppt/notesMasters/notesMaster1.xml" Id="R3151e8d85ecd4d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f555ce7714f49" /><Relationship Type="http://schemas.openxmlformats.org/officeDocument/2006/relationships/notesMaster" Target="/ppt/notesMasters/notesMaster1.xml" Id="R3150c50f30db4f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e3477561df467a" /><Relationship Type="http://schemas.openxmlformats.org/officeDocument/2006/relationships/notesMaster" Target="/ppt/notesMasters/notesMaster1.xml" Id="Rfa458d553b354d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b0c5bb67c4616" /><Relationship Type="http://schemas.openxmlformats.org/officeDocument/2006/relationships/notesMaster" Target="/ppt/notesMasters/notesMaster1.xml" Id="R6b08c2ca51db43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2a7cec0f5e4909" /><Relationship Type="http://schemas.openxmlformats.org/officeDocument/2006/relationships/notesMaster" Target="/ppt/notesMasters/notesMaster1.xml" Id="R3f8ae2e7dbd3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d139a8c12943c4" /><Relationship Type="http://schemas.openxmlformats.org/officeDocument/2006/relationships/notesMaster" Target="/ppt/notesMasters/notesMaster1.xml" Id="R690364baee1c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nonprofit-fictional-data.json, created solely for this portfolio demonstration. All donor records and giving amounts are synthetic. USD annual donor aggregates. Period: 2023–2025. No claims about actual clients or fundraising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nonprofit-fictional-data.json, created solely for this portfolio demonstration. All donor records and giving amounts are synthetic. USD annual donor aggregates. Period: 2023–2025. No claims about actual clients or fundraising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nonprofit-fictional-data.json, created solely for this portfolio demonstration. All donor records and giving amounts are synthetic. USD annual donor aggregates. Period: 2023–2025. No claims about actual clients or fundraising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nonprofit-fictional-data.json, created solely for this portfolio demonstration. All donor records and giving amounts are synthetic. USD annual donor aggregates. Period: 2023–2025. No claims about actual clients or fundraising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nonprofit-fictional-data.json, created solely for this portfolio demonstration. All donor records and giving amounts are synthetic. USD annual donor aggregates. Period: 2023–2025. No claims about actual clients or fundraising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nonprofit-fictional-data.json, created solely for this portfolio demonstration. All donor records and giving amounts are synthetic. USD annual donor aggregates. Period: 2023–2025. No claims about actual clients or fundraising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6d077b9ad4c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1208f5fe441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75c8c9c024f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0a68743e54b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93cbc311d45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3cd5d124c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03D222-4774-46F1-A436-3BF302CBF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3EFA77-6E5F-41D7-9AA1-66A48D7A33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9B731F-92A2-467F-9F59-EE5554ED2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4F75C-24C0-4B6C-9C52-15E70078E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72B9FF-C4DE-423D-9FD0-5B11C903E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23DE49-FEF8-43A5-874C-9F157388F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2858AA-F1F0-4A46-8DDD-C8785FF92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FD8CFE-8AF6-472A-967C-4428086643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4047D7-B631-4395-B463-7209D9388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21DC09-2E14-4460-B9C1-B5E254660B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d56ba76da43fe" /><Relationship Type="http://schemas.openxmlformats.org/officeDocument/2006/relationships/slideLayout" Target="/ppt/slideLayouts/slideLayout1.xml" Id="Rd46c1799b9764f8e" /><Relationship Type="http://schemas.openxmlformats.org/officeDocument/2006/relationships/slideLayout" Target="/ppt/slideLayouts/slideLayout2.xml" Id="R7c30ef6c7219439f" /><Relationship Type="http://schemas.openxmlformats.org/officeDocument/2006/relationships/slideLayout" Target="/ppt/slideLayouts/slideLayout3.xml" Id="R6dcba7b42bb54314" /><Relationship Type="http://schemas.openxmlformats.org/officeDocument/2006/relationships/slideLayout" Target="/ppt/slideLayouts/slideLayout4.xml" Id="Rf81273a8053e47ed" /><Relationship Type="http://schemas.openxmlformats.org/officeDocument/2006/relationships/slideLayout" Target="/ppt/slideLayouts/slideLayout5.xml" Id="R989069abb8544596" /><Relationship Type="http://schemas.openxmlformats.org/officeDocument/2006/relationships/slideLayout" Target="/ppt/slideLayouts/slideLayout6.xml" Id="R4966d26dc242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6c1799b9764f8e"/>
    <p:sldLayoutId xmlns:r="http://schemas.openxmlformats.org/officeDocument/2006/relationships" id="2147483650" r:id="R7c30ef6c7219439f"/>
    <p:sldLayoutId xmlns:r="http://schemas.openxmlformats.org/officeDocument/2006/relationships" id="2147483651" r:id="R6dcba7b42bb54314"/>
    <p:sldLayoutId xmlns:r="http://schemas.openxmlformats.org/officeDocument/2006/relationships" id="2147483652" r:id="Rf81273a8053e47ed"/>
    <p:sldLayoutId xmlns:r="http://schemas.openxmlformats.org/officeDocument/2006/relationships" id="2147483653" r:id="R989069abb8544596"/>
    <p:sldLayoutId xmlns:r="http://schemas.openxmlformats.org/officeDocument/2006/relationships" id="2147483654" r:id="R4966d26dc242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2210adea6400f" /><Relationship Type="http://schemas.openxmlformats.org/officeDocument/2006/relationships/notesSlide" Target="/ppt/notesSlides/notesSlide1.xml" Id="Rb884abf307dd44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be00a984e435b" /><Relationship Type="http://schemas.openxmlformats.org/officeDocument/2006/relationships/chart" Target="/ppt/slides/charts/chart1.xml" Id="R8d1a4f8170ab47e5" /><Relationship Type="http://schemas.openxmlformats.org/officeDocument/2006/relationships/notesSlide" Target="/ppt/notesSlides/notesSlide2.xml" Id="R21e8f85d4da7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19a94b011476f" /><Relationship Type="http://schemas.openxmlformats.org/officeDocument/2006/relationships/chart" Target="/ppt/slides/charts/chart2.xml" Id="Ref8408c681d54853" /><Relationship Type="http://schemas.openxmlformats.org/officeDocument/2006/relationships/chart" Target="/ppt/slides/charts/chart3.xml" Id="Rbf2f7c7260bb457e" /><Relationship Type="http://schemas.openxmlformats.org/officeDocument/2006/relationships/notesSlide" Target="/ppt/notesSlides/notesSlide3.xml" Id="R78c54aa569334a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4056c118e4afe" /><Relationship Type="http://schemas.openxmlformats.org/officeDocument/2006/relationships/chart" Target="/ppt/slides/charts/chart4.xml" Id="Rb6276398cd8d4967" /><Relationship Type="http://schemas.openxmlformats.org/officeDocument/2006/relationships/notesSlide" Target="/ppt/notesSlides/notesSlide4.xml" Id="R4379fb02cc6546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0bb1d51164f69" /><Relationship Type="http://schemas.openxmlformats.org/officeDocument/2006/relationships/chart" Target="/ppt/slides/charts/chart5.xml" Id="R619e87b43d8147e4" /><Relationship Type="http://schemas.openxmlformats.org/officeDocument/2006/relationships/notesSlide" Target="/ppt/notesSlides/notesSlide5.xml" Id="R76911c7f2e2142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ba9500db84ac4" /><Relationship Type="http://schemas.openxmlformats.org/officeDocument/2006/relationships/notesSlide" Target="/ppt/notesSlides/notesSlide6.xml" Id="Rd13961c80f384aa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giving (USD)</c:v>
          </c:tx>
          <c:spPr>
            <a:solidFill xmlns:a="http://schemas.openxmlformats.org/drawingml/2006/main">
              <a:srgbClr val="007F94"/>
            </a:solidFill>
            <a:ln xmlns:a="http://schemas.openxmlformats.org/drawingml/2006/main" w="28575">
              <a:solidFill>
                <a:srgbClr val="007F94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Matures</c:v>
                </c:pt>
                <c:pt idx="1">
                  <c:v>Baby Boomers</c:v>
                </c:pt>
                <c:pt idx="2">
                  <c:v>Generation X</c:v>
                </c:pt>
                <c:pt idx="3">
                  <c:v>Millennials</c:v>
                </c:pt>
              </c:strCache>
            </c:strRef>
          </c:cat>
          <c:val>
            <c:numRef>
              <c:f>'Chart Data'!$B$2:$B$5</c:f>
              <c:numCache>
                <c:formatCode>$#,##0</c:formatCode>
                <c:ptCount val="4"/>
                <c:pt idx="0">
                  <c:v>14850</c:v>
                </c:pt>
                <c:pt idx="1">
                  <c:v>14100</c:v>
                </c:pt>
                <c:pt idx="2">
                  <c:v>8400</c:v>
                </c:pt>
                <c:pt idx="3">
                  <c:v>4200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4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giving (USD)</c:v>
          </c:tx>
          <c:spPr>
            <a:solidFill xmlns:a="http://schemas.openxmlformats.org/drawingml/2006/main">
              <a:srgbClr val="007F94"/>
            </a:solidFill>
            <a:ln xmlns:a="http://schemas.openxmlformats.org/drawingml/2006/main" w="28575">
              <a:solidFill>
                <a:srgbClr val="007F94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Tulsa</c:v>
                </c:pt>
                <c:pt idx="1">
                  <c:v>Broken
Arrow</c:v>
                </c:pt>
                <c:pt idx="2">
                  <c:v>Owasso</c:v>
                </c:pt>
                <c:pt idx="3">
                  <c:v>Other
Oklahoma</c:v>
                </c:pt>
              </c:strCache>
            </c:strRef>
          </c:cat>
          <c:val>
            <c:numRef>
              <c:f>'Chart Data'!$B$2:$B$5</c:f>
              <c:numCache>
                <c:formatCode>$#,##0</c:formatCode>
                <c:ptCount val="4"/>
                <c:pt idx="0">
                  <c:v>22300</c:v>
                </c:pt>
                <c:pt idx="1">
                  <c:v>12800</c:v>
                </c:pt>
                <c:pt idx="2">
                  <c:v>5100</c:v>
                </c:pt>
                <c:pt idx="3">
                  <c:v>1350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4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giving (USD)</c:v>
          </c:tx>
          <c:spPr>
            <a:solidFill xmlns:a="http://schemas.openxmlformats.org/drawingml/2006/main">
              <a:srgbClr val="007F94"/>
            </a:solidFill>
            <a:ln xmlns:a="http://schemas.openxmlformats.org/drawingml/2006/main" w="28575">
              <a:solidFill>
                <a:srgbClr val="007F94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Referral</c:v>
                </c:pt>
                <c:pt idx="1">
                  <c:v>Community
event</c:v>
                </c:pt>
                <c:pt idx="2">
                  <c:v>Website</c:v>
                </c:pt>
              </c:strCache>
            </c:strRef>
          </c:cat>
          <c:val>
            <c:numRef>
              <c:f>'Chart Data'!$B$2:$B$4</c:f>
              <c:numCache>
                <c:formatCode>$#,##0</c:formatCode>
                <c:ptCount val="3"/>
                <c:pt idx="0">
                  <c:v>20000</c:v>
                </c:pt>
                <c:pt idx="1">
                  <c:v>12800</c:v>
                </c:pt>
                <c:pt idx="2">
                  <c:v>8750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4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2025 giving (USD)</c:v>
          </c:tx>
          <c:spPr>
            <a:solidFill xmlns:a="http://schemas.openxmlformats.org/drawingml/2006/main">
              <a:srgbClr val="007F94"/>
            </a:solidFill>
            <a:ln xmlns:a="http://schemas.openxmlformats.org/drawingml/2006/main" w="28575">
              <a:solidFill>
                <a:srgbClr val="007F94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07F94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Data'!$B$2:$B$4</c:f>
              <c:numCache>
                <c:formatCode>$#,##0</c:formatCode>
                <c:ptCount val="3"/>
                <c:pt idx="0">
                  <c:v>34920</c:v>
                </c:pt>
                <c:pt idx="1">
                  <c:v>38235</c:v>
                </c:pt>
                <c:pt idx="2">
                  <c:v>41550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43A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giving (USD)</c:v>
          </c:tx>
          <c:spPr>
            <a:solidFill xmlns:a="http://schemas.openxmlformats.org/drawingml/2006/main">
              <a:srgbClr val="007F94"/>
            </a:solidFill>
            <a:ln xmlns:a="http://schemas.openxmlformats.org/drawingml/2006/main" w="28575">
              <a:solidFill>
                <a:srgbClr val="007F94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D001</c:v>
                </c:pt>
                <c:pt idx="1">
                  <c:v>D007</c:v>
                </c:pt>
                <c:pt idx="2">
                  <c:v>D002</c:v>
                </c:pt>
                <c:pt idx="3">
                  <c:v>D008</c:v>
                </c:pt>
                <c:pt idx="4">
                  <c:v>D013</c:v>
                </c:pt>
              </c:strCache>
            </c:strRef>
          </c:cat>
          <c:val>
            <c:numRef>
              <c:f>'Chart Data'!$B$2:$B$6</c:f>
              <c:numCache>
                <c:formatCode>$#,##0</c:formatCode>
                <c:ptCount val="5"/>
                <c:pt idx="0">
                  <c:v>5400</c:v>
                </c:pt>
                <c:pt idx="1">
                  <c:v>5000</c:v>
                </c:pt>
                <c:pt idx="2">
                  <c:v>3600</c:v>
                </c:pt>
                <c:pt idx="3">
                  <c:v>3500</c:v>
                </c:pt>
                <c:pt idx="4">
                  <c:v>3000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4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  <c:spPr>
    <a:solidFill xmlns:a="http://schemas.openxmlformats.org/drawingml/2006/main">
      <a:srgbClr val="F8FA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E6D11-78FD-48D4-9198-FDE367C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Understanding nonprofit supporters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CCC1-52D9-4020-B418-52A85A09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An original portfolio example for a fictional Oklahoma nonprofit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B6C11-F38F-4C90-B8C4-2D783BDD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Jax's Analytics   |   Fictional demonstration data   |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B17DD-2F13-4DAA-A670-6F3A2646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Who supports us, how is giving changing, and where should we focus outreach?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1F6FB-FE8F-428E-9894-02A66FCA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F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F94"/>
                </a:solidFill>
                <a:latin typeface="Arial"/>
                <a:ea typeface="Arial"/>
                <a:cs typeface="Arial"/>
              </a:rPr>
              <a:t>24 fictional donors. Three years of giving. Clear results for discussion.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2C45D-A6E6-4303-8984-A1508B07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client records, actual fundraising results, or wealth-screening claims.</a:t>
            </a:r>
          </a:p>
        </p:txBody>
      </p:sp>
    </p:spTree>
    <p:extLst>
      <p:ext uri="{BB962C8B-B14F-4D97-AF65-F5344CB8AC3E}">
        <p14:creationId xmlns:p14="http://schemas.microsoft.com/office/powerpoint/2010/main" val="690137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FA594-8FFF-4F2D-9A5E-80A8023B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Giving by donor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DC9ED-00A3-4165-A52A-8D465B16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2025 giving and donor counts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4052B-9405-4EA8-A282-36CDB773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Jax's Analytics   |   Fictional demonstration data   |   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060E40A-AFE9-4DD0-B6B5-59168BA7D871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1a4f8170ab47e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A2E96-2683-4011-91A6-32F6BE1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94"/>
                </a:solidFill>
                <a:latin typeface="Arial"/>
                <a:ea typeface="Arial"/>
                <a:cs typeface="Arial"/>
              </a:rPr>
              <a:t>Six donors in each cohort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DECC6-68C2-478C-8D55-673AA74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43A"/>
                </a:solidFill>
                <a:latin typeface="Arial"/>
                <a:ea typeface="Arial"/>
                <a:cs typeface="Arial"/>
              </a:rPr>
              <a:t>Giving totals differ even though donor counts are equal. Review both before deciding how to engage supporters.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758FF-E4D3-4A24-B92B-E5C409D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Cohorts use birth years, not inferred wealth or giving capacity.</a:t>
            </a:r>
          </a:p>
        </p:txBody>
      </p:sp>
    </p:spTree>
    <p:extLst>
      <p:ext uri="{BB962C8B-B14F-4D97-AF65-F5344CB8AC3E}">
        <p14:creationId xmlns:p14="http://schemas.microsoft.com/office/powerpoint/2010/main" val="1627318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4DA07-DF59-4295-AEF2-6B9352A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Where support comes from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2AA11-FF09-4A89-BB3E-ED84770E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Donor location and acquisition source are separate views of the same 2025 giving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4667F-FE35-4B6C-BC82-08097B6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Jax's Analytics   |   Fictional demonstration data   |   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0E69787-B5D7-4945-AC40-C6830F7DD884}"/>
              </a:ext>
            </a:extLst>
          </p:cNvPr>
          <p:cNvGraphicFramePr/>
          <p:nvPr/>
        </p:nvGraphicFramePr>
        <p:xfrm>
          <a:off xmlns:a="http://schemas.openxmlformats.org/drawingml/2006/main" x="495300" y="2333625"/>
          <a:ext xmlns:a="http://schemas.openxmlformats.org/drawingml/2006/main" cx="5429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8408c681d54853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03EF19D-9596-44D4-AF37-C74F15B8345B}"/>
              </a:ext>
            </a:extLst>
          </p:cNvPr>
          <p:cNvGraphicFramePr/>
          <p:nvPr/>
        </p:nvGraphicFramePr>
        <p:xfrm>
          <a:off xmlns:a="http://schemas.openxmlformats.org/drawingml/2006/main" x="6229350" y="2333625"/>
          <a:ext xmlns:a="http://schemas.openxmlformats.org/drawingml/2006/main" cx="5429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2f7c7260bb457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C27F0-245D-427D-B2A4-8672A081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By donor 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E8F7D-F9C9-4AA2-8620-0E2018C1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By acquisition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D879C-37AB-4CB4-8FE4-3D25F7DD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Channel totals do not establish return on investment. Outreach costs and attribution checks are not included.</a:t>
            </a:r>
          </a:p>
        </p:txBody>
      </p:sp>
    </p:spTree>
    <p:extLst>
      <p:ext uri="{BB962C8B-B14F-4D97-AF65-F5344CB8AC3E}">
        <p14:creationId xmlns:p14="http://schemas.microsoft.com/office/powerpoint/2010/main" val="779964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2BC96-1B6B-4FDC-982F-986A10F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Giving over three years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A8628-2FA7-4625-9732-471D54D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Annual totals rose 19.0% from 2023 to 2025 in this fictional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C5C63-B2D9-4191-84DF-B72A9D40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Jax's Analytics   |   Fictional demonstration data   |   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0C27682-BC48-4715-A798-A5D29273030A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477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276398cd8d49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8143F-991F-4B3F-9B76-BC9AEA09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same 24 donors appear in all three years. This demonstrates changes in giving, not donor acquisition or retention.</a:t>
            </a:r>
          </a:p>
        </p:txBody>
      </p:sp>
    </p:spTree>
    <p:extLst>
      <p:ext uri="{BB962C8B-B14F-4D97-AF65-F5344CB8AC3E}">
        <p14:creationId xmlns:p14="http://schemas.microsoft.com/office/powerpoint/2010/main" val="1529113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7BE4F-BA95-4FFF-BD4F-27180525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five largest supporters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61276-625B-4014-B4F0-1A3786D0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Five of 24 donors contributed 49.3% of 2025 giving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0E106-C4F7-4DA0-A470-03987424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Jax's Analytics   |   Fictional demonstration data   |   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4D6E483-D573-4295-BECB-FC51ED6F50BD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9e87b43d8147e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2FF4E-3CF8-4532-90D2-B6AC3B60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7F94"/>
                </a:solidFill>
                <a:latin typeface="Arial"/>
                <a:ea typeface="Arial"/>
                <a:cs typeface="Arial"/>
              </a:rPr>
              <a:t>$20,500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6D206-36A6-41B0-8FC3-98BF8EC0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A"/>
                </a:solidFill>
                <a:latin typeface="Arial"/>
                <a:ea typeface="Arial"/>
                <a:cs typeface="Arial"/>
              </a:rPr>
              <a:t>Combined 2025 giving from the five largest donors.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F7933-8844-4770-8CDB-14835E73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323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starting point for stewardship planning, not a prediction of future gifts.</a:t>
            </a:r>
          </a:p>
        </p:txBody>
      </p:sp>
    </p:spTree>
    <p:extLst>
      <p:ext uri="{BB962C8B-B14F-4D97-AF65-F5344CB8AC3E}">
        <p14:creationId xmlns:p14="http://schemas.microsoft.com/office/powerpoint/2010/main" val="867146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93088-246B-4509-990D-BC8ED5F5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Using the findings to plan outreach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8FAE-0531-4E5D-8D09-F839143D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Questions for the next conversation with a nonprofit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A9F31-F27B-49FA-936C-7F313E22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Jax's Analytics   |   Fictional demonstration data   | 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C0789-9D8D-4005-B5FE-D535800B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94"/>
                </a:solidFill>
                <a:latin typeface="Arial"/>
                <a:ea typeface="Arial"/>
                <a:cs typeface="Arial"/>
              </a:rPr>
              <a:t>Steward existing relationships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0FE1D-B57F-4BCA-B273-DE066A1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A"/>
                </a:solidFill>
                <a:latin typeface="Arial"/>
                <a:ea typeface="Arial"/>
                <a:cs typeface="Arial"/>
              </a:rPr>
              <a:t>Review the largest supporters and agree on appropriate personal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ADDFA-15F6-4BDB-AD5B-7E99179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94"/>
                </a:solidFill>
                <a:latin typeface="Arial"/>
                <a:ea typeface="Arial"/>
                <a:cs typeface="Arial"/>
              </a:rPr>
              <a:t>Check outreach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AD552-1CAF-485B-AFBE-43FCCC36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A"/>
                </a:solidFill>
                <a:latin typeface="Arial"/>
                <a:ea typeface="Arial"/>
                <a:cs typeface="Arial"/>
              </a:rPr>
              <a:t>Compare location and acquisition patterns with outreach costs before shifting resources.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C20FC-C8F5-4948-9232-1CC192C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94"/>
                </a:solidFill>
                <a:latin typeface="Arial"/>
                <a:ea typeface="Arial"/>
                <a:cs typeface="Arial"/>
              </a:rPr>
              <a:t>Investigate changes in giving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31784-4302-4B1F-AAAF-920CC50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A"/>
                </a:solidFill>
                <a:latin typeface="Arial"/>
                <a:ea typeface="Arial"/>
                <a:cs typeface="Arial"/>
              </a:rPr>
              <a:t>Discuss changes with the team before assigning causes or making fundraising forecasts.</a:t>
            </a:r>
          </a:p>
        </p:txBody>
      </p:sp>
    </p:spTree>
    <p:extLst>
      <p:ext uri="{BB962C8B-B14F-4D97-AF65-F5344CB8AC3E}">
        <p14:creationId xmlns:p14="http://schemas.microsoft.com/office/powerpoint/2010/main" val="220578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2026-10-23T17:12:57.5040000Z</dcterms:created>
  <dcterms:modified xsi:type="dcterms:W3CDTF">2026-10-23T17:12:57.5040000Z</dcterms:modified>
</coreProperties>
</file>